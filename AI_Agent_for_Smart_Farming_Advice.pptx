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4"/>
  </p:notesMasterIdLst>
  <p:sldIdLst>
    <p:sldId id="283" r:id="rId2"/>
    <p:sldId id="257" r:id="rId3"/>
    <p:sldId id="282" r:id="rId4"/>
    <p:sldId id="285" r:id="rId5"/>
    <p:sldId id="278" r:id="rId6"/>
    <p:sldId id="281" r:id="rId7"/>
    <p:sldId id="293" r:id="rId8"/>
    <p:sldId id="294" r:id="rId9"/>
    <p:sldId id="303" r:id="rId10"/>
    <p:sldId id="304" r:id="rId11"/>
    <p:sldId id="290" r:id="rId12"/>
    <p:sldId id="262" r:id="rId13"/>
    <p:sldId id="295" r:id="rId14"/>
    <p:sldId id="296" r:id="rId15"/>
    <p:sldId id="297" r:id="rId16"/>
    <p:sldId id="305" r:id="rId17"/>
    <p:sldId id="298" r:id="rId18"/>
    <p:sldId id="306" r:id="rId19"/>
    <p:sldId id="299" r:id="rId20"/>
    <p:sldId id="300" r:id="rId21"/>
    <p:sldId id="301" r:id="rId22"/>
    <p:sldId id="302" r:id="rId23"/>
    <p:sldId id="264" r:id="rId24"/>
    <p:sldId id="277" r:id="rId25"/>
    <p:sldId id="286" r:id="rId26"/>
    <p:sldId id="287" r:id="rId27"/>
    <p:sldId id="280" r:id="rId28"/>
    <p:sldId id="288" r:id="rId29"/>
    <p:sldId id="291" r:id="rId30"/>
    <p:sldId id="292" r:id="rId31"/>
    <p:sldId id="289" r:id="rId32"/>
    <p:sldId id="276" r:id="rId3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client id="{A6B9108B-7598-1D50-C4AA-8A38026DAEEF}" v="18" dt="2026-06-19T06:56:18.840"/>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PKhadarkhan/AI-Agent-for-Smart-Farming-Advice.git"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hyperlink" Target="mailto:pkhadarkhan3@gmail.com"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82724957"/>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a:blip r:embed="rId3">
            <a:alphaModFix/>
          </a:blip>
          <a:srcRect l="4092" r="7722" b="16318"/>
          <a:stretch>
            <a:fillRect/>
          </a:stretch>
        </p:blipFill>
        <p:spPr>
          <a:xfrm>
            <a:off x="4089770" y="3622877"/>
            <a:ext cx="1049389" cy="1001723"/>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[Agriculture]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IN" sz="2400" dirty="0">
                <a:highlight>
                  <a:srgbClr val="FFFF00"/>
                </a:highlight>
              </a:rPr>
              <a:t>AI Agent for Smart Farming Advice</a:t>
            </a:r>
            <a:r>
              <a:rPr lang="en-US" sz="2400" b="1" dirty="0">
                <a:highlight>
                  <a:srgbClr val="FFFF00"/>
                </a:highlight>
              </a:rPr>
              <a:t>]</a:t>
            </a:r>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sp>
        <p:nvSpPr>
          <p:cNvPr id="2" name="TextBox 1">
            <a:extLst>
              <a:ext uri="{FF2B5EF4-FFF2-40B4-BE49-F238E27FC236}">
                <a16:creationId xmlns:a16="http://schemas.microsoft.com/office/drawing/2014/main" id="{A62D9F61-0294-DEE5-A4D1-5E76A379A4E7}"/>
              </a:ext>
            </a:extLst>
          </p:cNvPr>
          <p:cNvSpPr txBox="1"/>
          <p:nvPr/>
        </p:nvSpPr>
        <p:spPr>
          <a:xfrm>
            <a:off x="1206162" y="3712514"/>
            <a:ext cx="2274975" cy="584775"/>
          </a:xfrm>
          <a:prstGeom prst="rect">
            <a:avLst/>
          </a:prstGeom>
          <a:noFill/>
        </p:spPr>
        <p:txBody>
          <a:bodyPr wrap="square" rtlCol="0">
            <a:spAutoFit/>
          </a:bodyPr>
          <a:lstStyle/>
          <a:p>
            <a:r>
              <a:rPr lang="en-IN" sz="1600" dirty="0">
                <a:solidFill>
                  <a:srgbClr val="141414"/>
                </a:solidFill>
              </a:rPr>
              <a:t>PATAN KHADAR</a:t>
            </a:r>
          </a:p>
          <a:p>
            <a:r>
              <a:rPr lang="en-IN" sz="1600" dirty="0">
                <a:solidFill>
                  <a:srgbClr val="141414"/>
                </a:solidFill>
              </a:rPr>
              <a:t>KHAN</a:t>
            </a:r>
          </a:p>
        </p:txBody>
      </p:sp>
      <p:sp>
        <p:nvSpPr>
          <p:cNvPr id="5" name="TextBox 4">
            <a:extLst>
              <a:ext uri="{FF2B5EF4-FFF2-40B4-BE49-F238E27FC236}">
                <a16:creationId xmlns:a16="http://schemas.microsoft.com/office/drawing/2014/main" id="{8CDA5EE8-3447-BA0F-C8FF-74E78BB5F4FF}"/>
              </a:ext>
            </a:extLst>
          </p:cNvPr>
          <p:cNvSpPr txBox="1"/>
          <p:nvPr/>
        </p:nvSpPr>
        <p:spPr>
          <a:xfrm>
            <a:off x="5830386" y="3622878"/>
            <a:ext cx="2061783" cy="830997"/>
          </a:xfrm>
          <a:prstGeom prst="rect">
            <a:avLst/>
          </a:prstGeom>
          <a:noFill/>
        </p:spPr>
        <p:txBody>
          <a:bodyPr wrap="none" rtlCol="0">
            <a:spAutoFit/>
          </a:bodyPr>
          <a:lstStyle/>
          <a:p>
            <a:r>
              <a:rPr lang="en-IN" sz="1600" dirty="0">
                <a:solidFill>
                  <a:srgbClr val="141414"/>
                </a:solidFill>
              </a:rPr>
              <a:t>PKHADARKHAN3@</a:t>
            </a:r>
          </a:p>
          <a:p>
            <a:r>
              <a:rPr lang="en-IN" sz="1600" dirty="0">
                <a:solidFill>
                  <a:srgbClr val="141414"/>
                </a:solidFill>
              </a:rPr>
              <a:t>GMAIL.COM</a:t>
            </a:r>
          </a:p>
          <a:p>
            <a:endParaRPr lang="en-IN" sz="1600" dirty="0"/>
          </a:p>
        </p:txBody>
      </p:sp>
      <p:sp>
        <p:nvSpPr>
          <p:cNvPr id="6" name="TextBox 5">
            <a:extLst>
              <a:ext uri="{FF2B5EF4-FFF2-40B4-BE49-F238E27FC236}">
                <a16:creationId xmlns:a16="http://schemas.microsoft.com/office/drawing/2014/main" id="{E336B6D5-9715-61A6-2C68-CDF15F20B78D}"/>
              </a:ext>
            </a:extLst>
          </p:cNvPr>
          <p:cNvSpPr txBox="1"/>
          <p:nvPr/>
        </p:nvSpPr>
        <p:spPr>
          <a:xfrm>
            <a:off x="8583396" y="3683879"/>
            <a:ext cx="1322798" cy="584775"/>
          </a:xfrm>
          <a:prstGeom prst="rect">
            <a:avLst/>
          </a:prstGeom>
          <a:noFill/>
        </p:spPr>
        <p:txBody>
          <a:bodyPr wrap="none" rtlCol="0">
            <a:spAutoFit/>
          </a:bodyPr>
          <a:lstStyle/>
          <a:p>
            <a:r>
              <a:rPr lang="en-IN" sz="1600" dirty="0">
                <a:solidFill>
                  <a:srgbClr val="141414"/>
                </a:solidFill>
              </a:rPr>
              <a:t>6302622016</a:t>
            </a:r>
          </a:p>
          <a:p>
            <a:endParaRPr lang="en-IN"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708981"/>
          </a:xfrm>
          <a:prstGeom prst="rect">
            <a:avLst/>
          </a:prstGeom>
          <a:noFill/>
        </p:spPr>
        <p:txBody>
          <a:bodyPr wrap="square" rtlCol="0">
            <a:spAutoFit/>
          </a:bodyPr>
          <a:lstStyle/>
          <a:p>
            <a:r>
              <a:rPr lang="en-IN" sz="2000" dirty="0"/>
              <a:t>Problem Statement No.9 – AI Agent for Smart Farming Advice </a:t>
            </a:r>
          </a:p>
          <a:p>
            <a:endParaRPr lang="en-IN" sz="2000" dirty="0"/>
          </a:p>
          <a:p>
            <a:r>
              <a:rPr lang="en-IN" sz="2000" dirty="0"/>
              <a:t>The Challenge – An AI Agent for Smart Farming Advice, powered by RAG (Retrieval-Augmented Generation), supports small-scale farmers by delivering real-time, localized agricultural guidance. It retrieves trusted data on weather forecasts, soil conditions, crop recommendations, pest control measures, and current market prices from agricultural departments, meteorological sources, and </a:t>
            </a:r>
            <a:r>
              <a:rPr lang="en-IN" sz="2000" dirty="0" err="1"/>
              <a:t>agri</a:t>
            </a:r>
            <a:r>
              <a:rPr lang="en-IN" sz="2000" dirty="0"/>
              <a:t> tech platforms.</a:t>
            </a:r>
          </a:p>
          <a:p>
            <a:endParaRPr lang="en-IN" sz="2000" dirty="0"/>
          </a:p>
          <a:p>
            <a:r>
              <a:rPr lang="en-IN" sz="2000" dirty="0"/>
              <a:t>Farmers can interact in their local language and ask questions like “What crop is best for this season?” or “What is today’s mandi rate for tomatoes?” </a:t>
            </a:r>
          </a:p>
          <a:p>
            <a:r>
              <a:rPr lang="en-IN" sz="2000" dirty="0"/>
              <a:t>The agent ensures timely, data-driven decisions that reduce risk, increase yield, and boost income. This AI-driven assistant bridges the knowledge gap and brings smart farming to the grassroots. </a:t>
            </a:r>
          </a:p>
          <a:p>
            <a:endParaRPr lang="en-IN" sz="2000" dirty="0"/>
          </a:p>
          <a:p>
            <a:r>
              <a:rPr lang="en-IN" sz="2000" dirty="0"/>
              <a:t>Technology – Use of IBM Cloud Lite services / IBM Granite is mandatory.</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32311"/>
          </a:xfrm>
          <a:prstGeom prst="rect">
            <a:avLst/>
          </a:prstGeom>
          <a:noFill/>
        </p:spPr>
        <p:txBody>
          <a:bodyPr wrap="square" rtlCol="0">
            <a:spAutoFit/>
          </a:bodyPr>
          <a:lstStyle/>
          <a:p>
            <a:r>
              <a:rPr lang="en-US" sz="2000" dirty="0">
                <a:solidFill>
                  <a:srgbClr val="141414"/>
                </a:solidFill>
              </a:rPr>
              <a:t>Proposed Solution: AI-Powered Smart Farming Agent
The solution is a farmer-friendly web application that combines RAG-based retrieval with IBM Granite to generate useful agricultural guidance.
The system first retrieves relevant information from an agricultural knowledge base and then sends the retrieved context to IBM Granite for grounded response generation.
Key capabilities
• Farming chatbot for crop, soil, weather, pest, and market questions.
• RAG retrieval to provide context before AI generation.
• Crop recommendation based on soil, season, and water-related inputs.
• Pest and disease guidance from the available agricultural knowledge.
• Weather and market information modules.
• English, Hindi, and Telugu user interaction.
The application uses a Flask backend with an HTML/CSS/JavaScript frontend and IBM Granite as the core language model.</a:t>
            </a:r>
          </a:p>
          <a:p>
            <a:endParaRPr lang="en-IN" sz="20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342900" indent="-342900">
              <a:buFont typeface="Arial" panose="020B0604020202020204" pitchFamily="34" charset="0"/>
              <a:buChar char="•"/>
            </a:pPr>
            <a:r>
              <a:rPr lang="en-US" sz="2000" b="1" dirty="0" err="1"/>
              <a:t>Langflow</a:t>
            </a:r>
            <a:r>
              <a:rPr lang="en-US" sz="2000" b="1" dirty="0"/>
              <a:t> platform </a:t>
            </a:r>
            <a:r>
              <a:rPr lang="en-US" sz="2000" dirty="0"/>
              <a:t>-For designing and orchestrating multi-agent workflows visually</a:t>
            </a:r>
            <a:endParaRPr lang="en-IN" sz="2000" b="1" dirty="0">
              <a:solidFill>
                <a:srgbClr val="141414"/>
              </a:solidFill>
            </a:endParaRPr>
          </a:p>
          <a:p>
            <a:pPr marL="342900" indent="-342900">
              <a:buFont typeface="Arial" panose="020B0604020202020204" pitchFamily="34" charset="0"/>
              <a:buChar char="•"/>
            </a:pPr>
            <a:r>
              <a:rPr lang="en-IN" sz="2000" b="1" dirty="0">
                <a:solidFill>
                  <a:srgbClr val="141414"/>
                </a:solidFill>
              </a:rPr>
              <a:t>IBM Granite / watsonx.ai –</a:t>
            </a:r>
            <a:r>
              <a:rPr lang="en-IN" sz="2000" dirty="0">
                <a:solidFill>
                  <a:srgbClr val="141414"/>
                </a:solidFill>
              </a:rPr>
              <a:t> Natural-language understanding, reasoning, and farming responses.</a:t>
            </a:r>
          </a:p>
          <a:p>
            <a:pPr marL="342900" indent="-342900">
              <a:buFont typeface="Arial" panose="020B0604020202020204" pitchFamily="34" charset="0"/>
              <a:buChar char="•"/>
            </a:pPr>
            <a:r>
              <a:rPr lang="en-IN" sz="2000" b="1" dirty="0">
                <a:solidFill>
                  <a:srgbClr val="141414"/>
                </a:solidFill>
              </a:rPr>
              <a:t>IBM Cloud –</a:t>
            </a:r>
            <a:r>
              <a:rPr lang="en-IN" sz="2000" dirty="0">
                <a:solidFill>
                  <a:srgbClr val="141414"/>
                </a:solidFill>
              </a:rPr>
              <a:t> Cloud environment for IBM services and project deployment.</a:t>
            </a:r>
          </a:p>
          <a:p>
            <a:pPr marL="342900" indent="-342900">
              <a:buFont typeface="Arial" panose="020B0604020202020204" pitchFamily="34" charset="0"/>
              <a:buChar char="•"/>
            </a:pPr>
            <a:r>
              <a:rPr lang="en-IN" sz="2000" b="1" dirty="0">
                <a:solidFill>
                  <a:srgbClr val="141414"/>
                </a:solidFill>
              </a:rPr>
              <a:t>Retrieval-Augmented Generation (RAG) –</a:t>
            </a:r>
            <a:r>
              <a:rPr lang="en-IN" sz="2000" dirty="0">
                <a:solidFill>
                  <a:srgbClr val="141414"/>
                </a:solidFill>
              </a:rPr>
              <a:t> Retrieves relevant agricultural context before response generation.</a:t>
            </a:r>
          </a:p>
          <a:p>
            <a:pPr marL="342900" indent="-342900">
              <a:buFont typeface="Arial" panose="020B0604020202020204" pitchFamily="34" charset="0"/>
              <a:buChar char="•"/>
            </a:pPr>
            <a:r>
              <a:rPr lang="en-IN" sz="2000" b="1" dirty="0">
                <a:solidFill>
                  <a:srgbClr val="141414"/>
                </a:solidFill>
              </a:rPr>
              <a:t>Flask –</a:t>
            </a:r>
            <a:r>
              <a:rPr lang="en-IN" sz="2000" dirty="0">
                <a:solidFill>
                  <a:srgbClr val="141414"/>
                </a:solidFill>
              </a:rPr>
              <a:t> Python backend for API endpoints and application logic.
</a:t>
            </a:r>
            <a:r>
              <a:rPr lang="en-IN" sz="2000" b="1" dirty="0">
                <a:solidFill>
                  <a:srgbClr val="141414"/>
                </a:solidFill>
              </a:rPr>
              <a:t>HTML, CSS and JavaScript –</a:t>
            </a:r>
            <a:r>
              <a:rPr lang="en-IN" sz="2000" dirty="0">
                <a:solidFill>
                  <a:srgbClr val="141414"/>
                </a:solidFill>
              </a:rPr>
              <a:t> Farmer-friendly web interface and interactive features.
</a:t>
            </a:r>
            <a:r>
              <a:rPr lang="en-IN" sz="2000" b="1" dirty="0">
                <a:solidFill>
                  <a:srgbClr val="141414"/>
                </a:solidFill>
              </a:rPr>
              <a:t>Agricultural Knowledge Base –</a:t>
            </a:r>
            <a:r>
              <a:rPr lang="en-IN" sz="2000" dirty="0">
                <a:solidFill>
                  <a:srgbClr val="141414"/>
                </a:solidFill>
              </a:rPr>
              <a:t> Stores farming information used by the RAG pipeline.</a:t>
            </a:r>
          </a:p>
          <a:p>
            <a:pPr marL="342900" indent="-342900">
              <a:buFont typeface="Arial" panose="020B0604020202020204" pitchFamily="34" charset="0"/>
              <a:buChar char="•"/>
            </a:pPr>
            <a:r>
              <a:rPr lang="en-IN" sz="2000" b="1" dirty="0">
                <a:solidFill>
                  <a:srgbClr val="141414"/>
                </a:solidFill>
              </a:rPr>
              <a:t>Multilingual UI –</a:t>
            </a:r>
            <a:r>
              <a:rPr lang="en-IN" sz="2000" dirty="0">
                <a:solidFill>
                  <a:srgbClr val="141414"/>
                </a:solidFill>
              </a:rPr>
              <a:t> Supports English, Hindi, and Telugu interaction.</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endParaRPr lang="en-IN" sz="2000"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r>
              <a:rPr lang="en-IN" sz="2400" b="1" dirty="0">
                <a:solidFill>
                  <a:srgbClr val="141414"/>
                </a:solidFill>
              </a:rPr>
              <a:t>Project Components Used -</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940088"/>
          </a:xfrm>
          <a:prstGeom prst="rect">
            <a:avLst/>
          </a:prstGeom>
          <a:noFill/>
        </p:spPr>
        <p:txBody>
          <a:bodyPr wrap="square" rtlCol="0">
            <a:spAutoFit/>
          </a:bodyPr>
          <a:lstStyle/>
          <a:p>
            <a:r>
              <a:rPr lang="en-IN" sz="2000" dirty="0"/>
              <a:t>1) Chat Input – Interface where farmers enter their queries, crop details, location, soil information, and other farming inputs.
2) IBM </a:t>
            </a:r>
            <a:r>
              <a:rPr lang="en-IN" sz="2000" dirty="0" err="1"/>
              <a:t>watsonx</a:t>
            </a:r>
            <a:r>
              <a:rPr lang="en-IN" sz="2000" dirty="0"/>
              <a:t> AI Agent – Processes user input using IBM Granite models to generate practical farming insights and recommendations.
3) Name of IBM Granite model – Granite-4.0-8B-Instruct → Fast, efficient for real-time crop and farming recommendations.
4) Chat Output – Displays AI-generated responses such as crop recommendations, pest-control guidance, weather-related advice, and farming suggestions.
5) File / Knowledge Base Component – Stores and retrieves agricultural information used by the RAG pipeline to provide relevant farming context.
6) Other Components Used – RAG Retrieval, Flask Backend, Weather Service, Market Service, and multilingual support for English, Hindi, and Telugu.</a:t>
            </a:r>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85800" y="411480"/>
            <a:ext cx="5852160" cy="502920"/>
          </a:xfrm>
          <a:prstGeom prst="rect">
            <a:avLst/>
          </a:prstGeom>
          <a:noFill/>
        </p:spPr>
        <p:txBody>
          <a:bodyPr wrap="none">
            <a:spAutoFit/>
          </a:bodyPr>
          <a:lstStyle/>
          <a:p>
            <a:r>
              <a:rPr sz="2400" b="1">
                <a:latin typeface="Arial"/>
              </a:rPr>
              <a:t>Required Files created using IBM Bob -</a:t>
            </a:r>
          </a:p>
        </p:txBody>
      </p:sp>
      <p:sp>
        <p:nvSpPr>
          <p:cNvPr id="6" name="TextBox 5"/>
          <p:cNvSpPr txBox="1"/>
          <p:nvPr/>
        </p:nvSpPr>
        <p:spPr>
          <a:xfrm>
            <a:off x="762000" y="1399032"/>
            <a:ext cx="3749039" cy="4297680"/>
          </a:xfrm>
          <a:prstGeom prst="rect">
            <a:avLst/>
          </a:prstGeom>
          <a:noFill/>
        </p:spPr>
        <p:txBody>
          <a:bodyPr wrap="square">
            <a:spAutoFit/>
          </a:bodyPr>
          <a:lstStyle/>
          <a:p>
            <a:pPr>
              <a:spcAft>
                <a:spcPts val="1400"/>
              </a:spcAft>
            </a:pPr>
            <a:r>
              <a:rPr sz="1900" b="1" dirty="0">
                <a:latin typeface="Arial"/>
              </a:rPr>
              <a:t>1.  </a:t>
            </a:r>
            <a:r>
              <a:rPr sz="1900" dirty="0">
                <a:latin typeface="Arial"/>
              </a:rPr>
              <a:t>backend/app.py</a:t>
            </a:r>
          </a:p>
          <a:p>
            <a:pPr>
              <a:spcAft>
                <a:spcPts val="1400"/>
              </a:spcAft>
            </a:pPr>
            <a:r>
              <a:rPr sz="1900" b="1" dirty="0">
                <a:latin typeface="Arial"/>
              </a:rPr>
              <a:t>2.  </a:t>
            </a:r>
            <a:r>
              <a:rPr sz="1900" dirty="0">
                <a:latin typeface="Arial"/>
              </a:rPr>
              <a:t>backend/requirements.txt</a:t>
            </a:r>
          </a:p>
          <a:p>
            <a:pPr>
              <a:spcAft>
                <a:spcPts val="1400"/>
              </a:spcAft>
            </a:pPr>
            <a:r>
              <a:rPr sz="1900" b="1" dirty="0">
                <a:latin typeface="Arial"/>
              </a:rPr>
              <a:t>3.  </a:t>
            </a:r>
            <a:r>
              <a:rPr sz="1900" dirty="0">
                <a:latin typeface="Arial"/>
              </a:rPr>
              <a:t>backend/.</a:t>
            </a:r>
            <a:r>
              <a:rPr sz="1900" dirty="0" err="1">
                <a:latin typeface="Arial"/>
              </a:rPr>
              <a:t>env.example</a:t>
            </a:r>
            <a:endParaRPr sz="1900" dirty="0">
              <a:latin typeface="Arial"/>
            </a:endParaRPr>
          </a:p>
          <a:p>
            <a:pPr>
              <a:spcAft>
                <a:spcPts val="1400"/>
              </a:spcAft>
            </a:pPr>
            <a:r>
              <a:rPr sz="1900" b="1" dirty="0">
                <a:latin typeface="Arial"/>
              </a:rPr>
              <a:t>4.  </a:t>
            </a:r>
            <a:r>
              <a:rPr sz="1900" dirty="0">
                <a:latin typeface="Arial"/>
              </a:rPr>
              <a:t>frontend/index.html</a:t>
            </a:r>
          </a:p>
          <a:p>
            <a:pPr>
              <a:spcAft>
                <a:spcPts val="1400"/>
              </a:spcAft>
            </a:pPr>
            <a:r>
              <a:rPr sz="1900" b="1" dirty="0">
                <a:latin typeface="Arial"/>
              </a:rPr>
              <a:t>5.  </a:t>
            </a:r>
            <a:r>
              <a:rPr sz="1900" dirty="0">
                <a:latin typeface="Arial"/>
              </a:rPr>
              <a:t>frontend/style.css</a:t>
            </a:r>
          </a:p>
          <a:p>
            <a:pPr>
              <a:spcAft>
                <a:spcPts val="1400"/>
              </a:spcAft>
            </a:pPr>
            <a:r>
              <a:rPr sz="1900" b="1" dirty="0">
                <a:latin typeface="Arial"/>
              </a:rPr>
              <a:t>6.  </a:t>
            </a:r>
            <a:r>
              <a:rPr sz="1900" dirty="0">
                <a:latin typeface="Arial"/>
              </a:rPr>
              <a:t>frontend/script.js</a:t>
            </a:r>
          </a:p>
        </p:txBody>
      </p:sp>
      <p:sp>
        <p:nvSpPr>
          <p:cNvPr id="7" name="TextBox 6"/>
          <p:cNvSpPr txBox="1"/>
          <p:nvPr/>
        </p:nvSpPr>
        <p:spPr>
          <a:xfrm>
            <a:off x="228600" y="6149340"/>
            <a:ext cx="3886200" cy="594360"/>
          </a:xfrm>
          <a:prstGeom prst="rect">
            <a:avLst/>
          </a:prstGeom>
          <a:noFill/>
        </p:spPr>
        <p:txBody>
          <a:bodyPr wrap="none">
            <a:spAutoFit/>
          </a:bodyPr>
          <a:lstStyle/>
          <a:p>
            <a:r>
              <a:rPr sz="1400" dirty="0">
                <a:latin typeface="Arial"/>
              </a:rPr>
              <a:t>Supporting modules: RAG, weather, market, and README files</a:t>
            </a:r>
          </a:p>
        </p:txBody>
      </p:sp>
      <p:pic>
        <p:nvPicPr>
          <p:cNvPr id="9" name="Picture 8"/>
          <p:cNvPicPr>
            <a:picLocks noChangeAspect="1"/>
          </p:cNvPicPr>
          <p:nvPr/>
        </p:nvPicPr>
        <p:blipFill>
          <a:blip r:embed="rId2"/>
          <a:srcRect/>
          <a:stretch/>
        </p:blipFill>
        <p:spPr>
          <a:xfrm>
            <a:off x="4568651" y="1534160"/>
            <a:ext cx="6678469" cy="357666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70C1541-651D-CC44-BE10-6147140E12FD}"/>
              </a:ext>
            </a:extLst>
          </p:cNvPr>
          <p:cNvPicPr>
            <a:picLocks noChangeAspect="1"/>
          </p:cNvPicPr>
          <p:nvPr/>
        </p:nvPicPr>
        <p:blipFill>
          <a:blip r:embed="rId2"/>
          <a:stretch>
            <a:fillRect/>
          </a:stretch>
        </p:blipFill>
        <p:spPr>
          <a:xfrm>
            <a:off x="734823" y="534528"/>
            <a:ext cx="10308619" cy="5788944"/>
          </a:xfrm>
          <a:prstGeom prst="rect">
            <a:avLst/>
          </a:prstGeom>
        </p:spPr>
      </p:pic>
    </p:spTree>
    <p:extLst>
      <p:ext uri="{BB962C8B-B14F-4D97-AF65-F5344CB8AC3E}">
        <p14:creationId xmlns:p14="http://schemas.microsoft.com/office/powerpoint/2010/main" val="2226572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338C61-D207-7168-6905-DDED3B207AF9}"/>
              </a:ext>
            </a:extLst>
          </p:cNvPr>
          <p:cNvPicPr>
            <a:picLocks noChangeAspect="1"/>
          </p:cNvPicPr>
          <p:nvPr/>
        </p:nvPicPr>
        <p:blipFill>
          <a:blip r:embed="rId2"/>
          <a:stretch>
            <a:fillRect/>
          </a:stretch>
        </p:blipFill>
        <p:spPr>
          <a:xfrm>
            <a:off x="247143" y="144495"/>
            <a:ext cx="11697714" cy="6569009"/>
          </a:xfrm>
          <a:prstGeom prst="rect">
            <a:avLst/>
          </a:prstGeom>
        </p:spPr>
      </p:pic>
    </p:spTree>
    <p:extLst>
      <p:ext uri="{BB962C8B-B14F-4D97-AF65-F5344CB8AC3E}">
        <p14:creationId xmlns:p14="http://schemas.microsoft.com/office/powerpoint/2010/main" val="4120819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84BDAC-FE0D-6376-E122-4D234BD4C281}"/>
              </a:ext>
            </a:extLst>
          </p:cNvPr>
          <p:cNvPicPr>
            <a:picLocks noChangeAspect="1"/>
          </p:cNvPicPr>
          <p:nvPr/>
        </p:nvPicPr>
        <p:blipFill>
          <a:blip r:embed="rId2"/>
          <a:stretch>
            <a:fillRect/>
          </a:stretch>
        </p:blipFill>
        <p:spPr>
          <a:xfrm>
            <a:off x="247143" y="144495"/>
            <a:ext cx="11697714" cy="6569009"/>
          </a:xfrm>
          <a:prstGeom prst="rect">
            <a:avLst/>
          </a:prstGeom>
        </p:spPr>
      </p:pic>
    </p:spTree>
    <p:extLst>
      <p:ext uri="{BB962C8B-B14F-4D97-AF65-F5344CB8AC3E}">
        <p14:creationId xmlns:p14="http://schemas.microsoft.com/office/powerpoint/2010/main" val="3547729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TextBox 1"/>
          <p:cNvSpPr txBox="1"/>
          <p:nvPr/>
        </p:nvSpPr>
        <p:spPr>
          <a:xfrm>
            <a:off x="539496" y="320040"/>
            <a:ext cx="7772400" cy="448056"/>
          </a:xfrm>
          <a:prstGeom prst="rect">
            <a:avLst/>
          </a:prstGeom>
          <a:noFill/>
        </p:spPr>
        <p:txBody>
          <a:bodyPr wrap="square" anchor="t">
            <a:spAutoFit/>
          </a:bodyPr>
          <a:lstStyle/>
          <a:p>
            <a:pPr algn="l"/>
            <a:r>
              <a:rPr sz="2400" b="1">
                <a:solidFill>
                  <a:srgbClr val="141414"/>
                </a:solidFill>
                <a:latin typeface="Arial"/>
              </a:rPr>
              <a:t>Project Workflow -</a:t>
            </a:r>
          </a:p>
        </p:txBody>
      </p:sp>
      <p:sp>
        <p:nvSpPr>
          <p:cNvPr id="3" name="Rounded Rectangle 2"/>
          <p:cNvSpPr/>
          <p:nvPr/>
        </p:nvSpPr>
        <p:spPr>
          <a:xfrm>
            <a:off x="594360" y="2331720"/>
            <a:ext cx="1234440" cy="960120"/>
          </a:xfrm>
          <a:prstGeom prst="roundRect">
            <a:avLst/>
          </a:prstGeom>
          <a:solidFill>
            <a:srgbClr val="DCE7F4"/>
          </a:solidFill>
          <a:ln w="19050">
            <a:solidFill>
              <a:srgbClr val="5B97D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rgbClr val="141414"/>
                </a:solidFill>
                <a:latin typeface="Arial"/>
              </a:rPr>
              <a:t>Farmer
Question</a:t>
            </a:r>
          </a:p>
        </p:txBody>
      </p:sp>
      <p:cxnSp>
        <p:nvCxnSpPr>
          <p:cNvPr id="4" name="Connector 3"/>
          <p:cNvCxnSpPr/>
          <p:nvPr/>
        </p:nvCxnSpPr>
        <p:spPr>
          <a:xfrm>
            <a:off x="1828800" y="2816352"/>
            <a:ext cx="320040" cy="0"/>
          </a:xfrm>
          <a:prstGeom prst="line">
            <a:avLst/>
          </a:prstGeom>
          <a:ln w="25400">
            <a:solidFill>
              <a:srgbClr val="5F5F5F"/>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2148840" y="2331720"/>
            <a:ext cx="1234440" cy="960120"/>
          </a:xfrm>
          <a:prstGeom prst="roundRect">
            <a:avLst/>
          </a:prstGeom>
          <a:solidFill>
            <a:srgbClr val="DCE7F4"/>
          </a:solidFill>
          <a:ln w="19050">
            <a:solidFill>
              <a:srgbClr val="48824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dirty="0">
                <a:solidFill>
                  <a:srgbClr val="141414"/>
                </a:solidFill>
                <a:latin typeface="Arial"/>
              </a:rPr>
              <a:t>Web
Interface</a:t>
            </a:r>
          </a:p>
        </p:txBody>
      </p:sp>
      <p:cxnSp>
        <p:nvCxnSpPr>
          <p:cNvPr id="6" name="Connector 5"/>
          <p:cNvCxnSpPr/>
          <p:nvPr/>
        </p:nvCxnSpPr>
        <p:spPr>
          <a:xfrm>
            <a:off x="3383280" y="2816352"/>
            <a:ext cx="320040" cy="0"/>
          </a:xfrm>
          <a:prstGeom prst="line">
            <a:avLst/>
          </a:prstGeom>
          <a:ln w="25400">
            <a:solidFill>
              <a:srgbClr val="5F5F5F"/>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703320" y="2331720"/>
            <a:ext cx="1234440" cy="960120"/>
          </a:xfrm>
          <a:prstGeom prst="roundRect">
            <a:avLst/>
          </a:prstGeom>
          <a:solidFill>
            <a:srgbClr val="E1EFE2"/>
          </a:solidFill>
          <a:ln w="19050">
            <a:solidFill>
              <a:srgbClr val="5B97D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41414"/>
                </a:solidFill>
                <a:latin typeface="Arial"/>
              </a:rPr>
              <a:t>Flask
Backend</a:t>
            </a:r>
          </a:p>
        </p:txBody>
      </p:sp>
      <p:cxnSp>
        <p:nvCxnSpPr>
          <p:cNvPr id="8" name="Connector 7"/>
          <p:cNvCxnSpPr/>
          <p:nvPr/>
        </p:nvCxnSpPr>
        <p:spPr>
          <a:xfrm>
            <a:off x="4937760" y="2816352"/>
            <a:ext cx="320040" cy="0"/>
          </a:xfrm>
          <a:prstGeom prst="line">
            <a:avLst/>
          </a:prstGeom>
          <a:ln w="25400">
            <a:solidFill>
              <a:srgbClr val="5F5F5F"/>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257800" y="2331720"/>
            <a:ext cx="1234440" cy="960120"/>
          </a:xfrm>
          <a:prstGeom prst="roundRect">
            <a:avLst/>
          </a:prstGeom>
          <a:solidFill>
            <a:srgbClr val="DCE7F4"/>
          </a:solidFill>
          <a:ln w="19050">
            <a:solidFill>
              <a:srgbClr val="48824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41414"/>
                </a:solidFill>
                <a:latin typeface="Arial"/>
              </a:rPr>
              <a:t>RAG
Retrieval</a:t>
            </a:r>
          </a:p>
        </p:txBody>
      </p:sp>
      <p:cxnSp>
        <p:nvCxnSpPr>
          <p:cNvPr id="10" name="Connector 9"/>
          <p:cNvCxnSpPr/>
          <p:nvPr/>
        </p:nvCxnSpPr>
        <p:spPr>
          <a:xfrm>
            <a:off x="6492240" y="2816352"/>
            <a:ext cx="320040" cy="0"/>
          </a:xfrm>
          <a:prstGeom prst="line">
            <a:avLst/>
          </a:prstGeom>
          <a:ln w="25400">
            <a:solidFill>
              <a:srgbClr val="5F5F5F"/>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812280" y="2331720"/>
            <a:ext cx="1234440" cy="960120"/>
          </a:xfrm>
          <a:prstGeom prst="roundRect">
            <a:avLst/>
          </a:prstGeom>
          <a:solidFill>
            <a:srgbClr val="E1EFE2"/>
          </a:solidFill>
          <a:ln w="19050">
            <a:solidFill>
              <a:srgbClr val="5B97D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41414"/>
                </a:solidFill>
                <a:latin typeface="Arial"/>
              </a:rPr>
              <a:t>IBM
Granite</a:t>
            </a:r>
          </a:p>
        </p:txBody>
      </p:sp>
      <p:cxnSp>
        <p:nvCxnSpPr>
          <p:cNvPr id="12" name="Connector 11"/>
          <p:cNvCxnSpPr/>
          <p:nvPr/>
        </p:nvCxnSpPr>
        <p:spPr>
          <a:xfrm>
            <a:off x="8046720" y="2816352"/>
            <a:ext cx="320040" cy="0"/>
          </a:xfrm>
          <a:prstGeom prst="line">
            <a:avLst/>
          </a:prstGeom>
          <a:ln w="25400">
            <a:solidFill>
              <a:srgbClr val="5F5F5F"/>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366760" y="2331720"/>
            <a:ext cx="1234440" cy="960120"/>
          </a:xfrm>
          <a:prstGeom prst="roundRect">
            <a:avLst/>
          </a:prstGeom>
          <a:solidFill>
            <a:srgbClr val="E1EFE2"/>
          </a:solidFill>
          <a:ln w="19050">
            <a:solidFill>
              <a:srgbClr val="48824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41414"/>
                </a:solidFill>
                <a:latin typeface="Arial"/>
              </a:rPr>
              <a:t>Farming
Advice</a:t>
            </a:r>
          </a:p>
        </p:txBody>
      </p:sp>
      <p:cxnSp>
        <p:nvCxnSpPr>
          <p:cNvPr id="14" name="Connector 13"/>
          <p:cNvCxnSpPr/>
          <p:nvPr/>
        </p:nvCxnSpPr>
        <p:spPr>
          <a:xfrm>
            <a:off x="9601200" y="2816352"/>
            <a:ext cx="320040" cy="0"/>
          </a:xfrm>
          <a:prstGeom prst="line">
            <a:avLst/>
          </a:prstGeom>
          <a:ln w="25400">
            <a:solidFill>
              <a:srgbClr val="5F5F5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921240" y="2331720"/>
            <a:ext cx="1234440" cy="960120"/>
          </a:xfrm>
          <a:prstGeom prst="roundRect">
            <a:avLst/>
          </a:prstGeom>
          <a:solidFill>
            <a:srgbClr val="DCE7F4"/>
          </a:solidFill>
          <a:ln w="19050">
            <a:solidFill>
              <a:srgbClr val="5B97D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500" b="1">
                <a:solidFill>
                  <a:srgbClr val="141414"/>
                </a:solidFill>
                <a:latin typeface="Arial"/>
              </a:rPr>
              <a:t>Web
Response</a:t>
            </a:r>
          </a:p>
        </p:txBody>
      </p:sp>
      <p:sp>
        <p:nvSpPr>
          <p:cNvPr id="16" name="TextBox 15"/>
          <p:cNvSpPr txBox="1"/>
          <p:nvPr/>
        </p:nvSpPr>
        <p:spPr>
          <a:xfrm>
            <a:off x="731520" y="3886200"/>
            <a:ext cx="10698480" cy="1417320"/>
          </a:xfrm>
          <a:prstGeom prst="rect">
            <a:avLst/>
          </a:prstGeom>
          <a:noFill/>
        </p:spPr>
        <p:txBody>
          <a:bodyPr wrap="square" anchor="t">
            <a:spAutoFit/>
          </a:bodyPr>
          <a:lstStyle/>
          <a:p>
            <a:pPr algn="ctr"/>
            <a:r>
              <a:rPr sz="1800" b="0">
                <a:solidFill>
                  <a:srgbClr val="141414"/>
                </a:solidFill>
                <a:latin typeface="Arial"/>
              </a:rPr>
              <a:t>The farmer submits a question → the frontend sends it to Flask → the RAG module retrieves relevant agricultural context → IBM Granite generates a grounded answer → the advice is returned to the farmer.</a:t>
            </a:r>
          </a:p>
        </p:txBody>
      </p:sp>
      <p:sp>
        <p:nvSpPr>
          <p:cNvPr id="17" name="TextBox 16"/>
          <p:cNvSpPr txBox="1"/>
          <p:nvPr/>
        </p:nvSpPr>
        <p:spPr>
          <a:xfrm>
            <a:off x="1005840" y="5715000"/>
            <a:ext cx="10058400" cy="411480"/>
          </a:xfrm>
          <a:prstGeom prst="rect">
            <a:avLst/>
          </a:prstGeom>
          <a:noFill/>
        </p:spPr>
        <p:txBody>
          <a:bodyPr wrap="square" anchor="t">
            <a:spAutoFit/>
          </a:bodyPr>
          <a:lstStyle/>
          <a:p>
            <a:pPr algn="ctr"/>
            <a:r>
              <a:rPr sz="1600" b="1">
                <a:solidFill>
                  <a:srgbClr val="5F5F5F"/>
                </a:solidFill>
                <a:latin typeface="Arial"/>
              </a:rPr>
              <a:t>Core flow: User Input → Retrieval → IBM Granite → Localized Agricultural Guidance</a:t>
            </a:r>
          </a:p>
        </p:txBody>
      </p:sp>
    </p:spTree>
    <p:extLst>
      <p:ext uri="{BB962C8B-B14F-4D97-AF65-F5344CB8AC3E}">
        <p14:creationId xmlns:p14="http://schemas.microsoft.com/office/powerpoint/2010/main" val="31740925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rcRect/>
          <a:stretch/>
        </p:blipFill>
        <p:spPr>
          <a:xfrm>
            <a:off x="1633326" y="675732"/>
            <a:ext cx="9272587" cy="61817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53A854C-EAD3-1F65-BF34-B0A285792549}"/>
              </a:ext>
            </a:extLst>
          </p:cNvPr>
          <p:cNvPicPr>
            <a:picLocks noChangeAspect="1"/>
          </p:cNvPicPr>
          <p:nvPr/>
        </p:nvPicPr>
        <p:blipFill>
          <a:blip r:embed="rId2"/>
          <a:srcRect/>
          <a:stretch>
            <a:fillRect/>
          </a:stretch>
        </p:blipFill>
        <p:spPr>
          <a:xfrm>
            <a:off x="1266820" y="932688"/>
            <a:ext cx="9664454" cy="4892040"/>
          </a:xfrm>
          <a:prstGeom prst="rect">
            <a:avLst/>
          </a:prstGeom>
        </p:spPr>
      </p:pic>
      <p:sp>
        <p:nvSpPr>
          <p:cNvPr id="7" name="TextBox 6"/>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Output – Smart Farming AI Chatbot</a:t>
            </a:r>
          </a:p>
        </p:txBody>
      </p:sp>
      <p:sp>
        <p:nvSpPr>
          <p:cNvPr id="8" name="TextBox 7"/>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Farmer-facing chatbot interface for asking questions about crops, soil, weather, fertilizers, and farming practices.</a:t>
            </a:r>
          </a:p>
        </p:txBody>
      </p:sp>
    </p:spTree>
    <p:extLst>
      <p:ext uri="{BB962C8B-B14F-4D97-AF65-F5344CB8AC3E}">
        <p14:creationId xmlns:p14="http://schemas.microsoft.com/office/powerpoint/2010/main" val="4294709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6D99D27-F22F-3726-4892-161F3869139D}"/>
              </a:ext>
            </a:extLst>
          </p:cNvPr>
          <p:cNvPicPr>
            <a:picLocks noChangeAspect="1"/>
          </p:cNvPicPr>
          <p:nvPr/>
        </p:nvPicPr>
        <p:blipFill>
          <a:blip r:embed="rId2"/>
          <a:srcRect/>
          <a:stretch/>
        </p:blipFill>
        <p:spPr>
          <a:xfrm>
            <a:off x="788382" y="932688"/>
            <a:ext cx="10621331" cy="4892040"/>
          </a:xfrm>
          <a:prstGeom prst="rect">
            <a:avLst/>
          </a:prstGeom>
        </p:spPr>
      </p:pic>
      <p:sp>
        <p:nvSpPr>
          <p:cNvPr id="4" name="TextBox 3"/>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Output – AI Farming Response</a:t>
            </a:r>
          </a:p>
        </p:txBody>
      </p:sp>
      <p:sp>
        <p:nvSpPr>
          <p:cNvPr id="5" name="TextBox 4"/>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IBM Granite generates a contextual farming response based on the farmer’s question and retrieved agricultural knowledge.</a:t>
            </a:r>
          </a:p>
        </p:txBody>
      </p:sp>
    </p:spTree>
    <p:extLst>
      <p:ext uri="{BB962C8B-B14F-4D97-AF65-F5344CB8AC3E}">
        <p14:creationId xmlns:p14="http://schemas.microsoft.com/office/powerpoint/2010/main" val="2699955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FD3C44-6AE4-00C1-50AC-F442B94AB593}"/>
              </a:ext>
            </a:extLst>
          </p:cNvPr>
          <p:cNvPicPr>
            <a:picLocks noChangeAspect="1"/>
          </p:cNvPicPr>
          <p:nvPr/>
        </p:nvPicPr>
        <p:blipFill>
          <a:blip r:embed="rId2"/>
          <a:srcRect/>
          <a:stretch/>
        </p:blipFill>
        <p:spPr>
          <a:xfrm>
            <a:off x="818812" y="960120"/>
            <a:ext cx="10452369" cy="4800600"/>
          </a:xfrm>
          <a:prstGeom prst="rect">
            <a:avLst/>
          </a:prstGeom>
        </p:spPr>
      </p:pic>
      <p:sp>
        <p:nvSpPr>
          <p:cNvPr id="6" name="TextBox 5"/>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Weather Information</a:t>
            </a:r>
          </a:p>
        </p:txBody>
      </p:sp>
      <p:sp>
        <p:nvSpPr>
          <p:cNvPr id="7" name="TextBox 6"/>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Weather module displays location-based seasonal information and farming guidance to support field decisions.</a:t>
            </a:r>
          </a:p>
        </p:txBody>
      </p:sp>
    </p:spTree>
    <p:extLst>
      <p:ext uri="{BB962C8B-B14F-4D97-AF65-F5344CB8AC3E}">
        <p14:creationId xmlns:p14="http://schemas.microsoft.com/office/powerpoint/2010/main" val="2268929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8CFAFD-9171-422A-E1E7-810F8D841E6E}"/>
              </a:ext>
            </a:extLst>
          </p:cNvPr>
          <p:cNvPicPr>
            <a:picLocks noChangeAspect="1"/>
          </p:cNvPicPr>
          <p:nvPr/>
        </p:nvPicPr>
        <p:blipFill>
          <a:blip r:embed="rId2"/>
          <a:srcRect/>
          <a:stretch>
            <a:fillRect/>
          </a:stretch>
        </p:blipFill>
        <p:spPr>
          <a:xfrm>
            <a:off x="685799" y="1493520"/>
            <a:ext cx="10805551" cy="4404360"/>
          </a:xfrm>
          <a:prstGeom prst="rect">
            <a:avLst/>
          </a:prstGeom>
        </p:spPr>
      </p:pic>
    </p:spTree>
    <p:extLst>
      <p:ext uri="{BB962C8B-B14F-4D97-AF65-F5344CB8AC3E}">
        <p14:creationId xmlns:p14="http://schemas.microsoft.com/office/powerpoint/2010/main" val="2484854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77D1F4-887A-A131-6976-ED4F456C651D}"/>
              </a:ext>
            </a:extLst>
          </p:cNvPr>
          <p:cNvPicPr>
            <a:picLocks noChangeAspect="1"/>
          </p:cNvPicPr>
          <p:nvPr/>
        </p:nvPicPr>
        <p:blipFill>
          <a:blip r:embed="rId2"/>
          <a:srcRect/>
          <a:stretch/>
        </p:blipFill>
        <p:spPr>
          <a:xfrm>
            <a:off x="671213" y="960119"/>
            <a:ext cx="10835640" cy="4983689"/>
          </a:xfrm>
          <a:prstGeom prst="rect">
            <a:avLst/>
          </a:prstGeom>
        </p:spPr>
      </p:pic>
      <p:sp>
        <p:nvSpPr>
          <p:cNvPr id="8" name="TextBox 7"/>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Mandi / Market Prices</a:t>
            </a:r>
          </a:p>
        </p:txBody>
      </p:sp>
      <p:sp>
        <p:nvSpPr>
          <p:cNvPr id="9" name="TextBox 8"/>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Market module displays available mandi/MSP information and related market guidance for selected crops and locations.</a:t>
            </a:r>
          </a:p>
        </p:txBody>
      </p:sp>
    </p:spTree>
    <p:extLst>
      <p:ext uri="{BB962C8B-B14F-4D97-AF65-F5344CB8AC3E}">
        <p14:creationId xmlns:p14="http://schemas.microsoft.com/office/powerpoint/2010/main" val="42555007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D251CAF-2088-3BB8-33A9-FABA4E92F407}"/>
              </a:ext>
            </a:extLst>
          </p:cNvPr>
          <p:cNvPicPr>
            <a:picLocks noChangeAspect="1"/>
          </p:cNvPicPr>
          <p:nvPr/>
        </p:nvPicPr>
        <p:blipFill>
          <a:blip r:embed="rId2"/>
          <a:srcRect/>
          <a:stretch/>
        </p:blipFill>
        <p:spPr>
          <a:xfrm>
            <a:off x="318227" y="450100"/>
            <a:ext cx="11447053" cy="5264900"/>
          </a:xfrm>
          <a:prstGeom prst="rect">
            <a:avLst/>
          </a:prstGeom>
        </p:spPr>
      </p:pic>
    </p:spTree>
    <p:extLst>
      <p:ext uri="{BB962C8B-B14F-4D97-AF65-F5344CB8AC3E}">
        <p14:creationId xmlns:p14="http://schemas.microsoft.com/office/powerpoint/2010/main" val="1930106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353CDA58-D080-CA2E-CAF4-BE9BA75132FE}"/>
              </a:ext>
            </a:extLst>
          </p:cNvPr>
          <p:cNvPicPr>
            <a:picLocks noChangeAspect="1"/>
          </p:cNvPicPr>
          <p:nvPr/>
        </p:nvPicPr>
        <p:blipFill>
          <a:blip r:embed="rId2"/>
          <a:srcRect/>
          <a:stretch>
            <a:fillRect/>
          </a:stretch>
        </p:blipFill>
        <p:spPr>
          <a:xfrm>
            <a:off x="795301" y="932688"/>
            <a:ext cx="10607492" cy="4892040"/>
          </a:xfrm>
          <a:prstGeom prst="rect">
            <a:avLst/>
          </a:prstGeom>
        </p:spPr>
      </p:pic>
      <p:sp>
        <p:nvSpPr>
          <p:cNvPr id="18" name="TextBox 17"/>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Crop Advice – Hindi</a:t>
            </a:r>
          </a:p>
        </p:txBody>
      </p:sp>
      <p:sp>
        <p:nvSpPr>
          <p:cNvPr id="19" name="TextBox 18"/>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Farmers can select soil type, season, location, and irrigation conditions to request crop recommendations in Hindi.</a:t>
            </a:r>
          </a:p>
        </p:txBody>
      </p:sp>
    </p:spTree>
    <p:extLst>
      <p:ext uri="{BB962C8B-B14F-4D97-AF65-F5344CB8AC3E}">
        <p14:creationId xmlns:p14="http://schemas.microsoft.com/office/powerpoint/2010/main" val="27277480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5714BDD1-DA42-7621-5CD0-3C4B0663DA6E}"/>
              </a:ext>
            </a:extLst>
          </p:cNvPr>
          <p:cNvPicPr>
            <a:picLocks noChangeAspect="1"/>
          </p:cNvPicPr>
          <p:nvPr/>
        </p:nvPicPr>
        <p:blipFill>
          <a:blip r:embed="rId2"/>
          <a:srcRect/>
          <a:stretch>
            <a:fillRect/>
          </a:stretch>
        </p:blipFill>
        <p:spPr>
          <a:xfrm>
            <a:off x="688155" y="932688"/>
            <a:ext cx="10821785" cy="4892040"/>
          </a:xfrm>
          <a:prstGeom prst="rect">
            <a:avLst/>
          </a:prstGeom>
        </p:spPr>
      </p:pic>
      <p:sp>
        <p:nvSpPr>
          <p:cNvPr id="18" name="TextBox 17"/>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Crop Recommendation Result – Hindi</a:t>
            </a:r>
          </a:p>
        </p:txBody>
      </p:sp>
      <p:sp>
        <p:nvSpPr>
          <p:cNvPr id="19" name="TextBox 18"/>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The system presents AI-generated crop recommendations with supporting reasons and practical farming guidance in Hindi.</a:t>
            </a:r>
          </a:p>
        </p:txBody>
      </p:sp>
    </p:spTree>
    <p:extLst>
      <p:ext uri="{BB962C8B-B14F-4D97-AF65-F5344CB8AC3E}">
        <p14:creationId xmlns:p14="http://schemas.microsoft.com/office/powerpoint/2010/main" val="1716417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5D291A-3C57-3DCA-EA8A-983855BB1AA0}"/>
              </a:ext>
            </a:extLst>
          </p:cNvPr>
          <p:cNvPicPr>
            <a:picLocks noChangeAspect="1"/>
          </p:cNvPicPr>
          <p:nvPr/>
        </p:nvPicPr>
        <p:blipFill>
          <a:blip r:embed="rId2"/>
          <a:srcRect/>
          <a:stretch>
            <a:fillRect/>
          </a:stretch>
        </p:blipFill>
        <p:spPr>
          <a:xfrm>
            <a:off x="750556" y="932688"/>
            <a:ext cx="10696982" cy="4892040"/>
          </a:xfrm>
          <a:prstGeom prst="rect">
            <a:avLst/>
          </a:prstGeom>
        </p:spPr>
      </p:pic>
      <p:sp>
        <p:nvSpPr>
          <p:cNvPr id="4" name="TextBox 3"/>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Pest &amp; Disease Control</a:t>
            </a:r>
          </a:p>
        </p:txBody>
      </p:sp>
      <p:sp>
        <p:nvSpPr>
          <p:cNvPr id="5" name="TextBox 4"/>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Farmers can enter the affected crop and describe the pest or disease problem to request AI-powered control advice.</a:t>
            </a:r>
          </a:p>
        </p:txBody>
      </p:sp>
    </p:spTree>
    <p:extLst>
      <p:ext uri="{BB962C8B-B14F-4D97-AF65-F5344CB8AC3E}">
        <p14:creationId xmlns:p14="http://schemas.microsoft.com/office/powerpoint/2010/main" val="42305081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3EF77-E7BA-3A24-C0E6-B5E02D83247F}"/>
              </a:ext>
            </a:extLst>
          </p:cNvPr>
          <p:cNvPicPr>
            <a:picLocks noChangeAspect="1"/>
          </p:cNvPicPr>
          <p:nvPr/>
        </p:nvPicPr>
        <p:blipFill>
          <a:blip r:embed="rId2"/>
          <a:srcRect/>
          <a:stretch>
            <a:fillRect/>
          </a:stretch>
        </p:blipFill>
        <p:spPr>
          <a:xfrm>
            <a:off x="722021" y="932688"/>
            <a:ext cx="10754053" cy="4892040"/>
          </a:xfrm>
          <a:prstGeom prst="rect">
            <a:avLst/>
          </a:prstGeom>
        </p:spPr>
      </p:pic>
      <p:sp>
        <p:nvSpPr>
          <p:cNvPr id="4" name="TextBox 3"/>
          <p:cNvSpPr txBox="1"/>
          <p:nvPr/>
        </p:nvSpPr>
        <p:spPr>
          <a:xfrm>
            <a:off x="502920" y="256032"/>
            <a:ext cx="11155680" cy="438912"/>
          </a:xfrm>
          <a:prstGeom prst="rect">
            <a:avLst/>
          </a:prstGeom>
          <a:noFill/>
        </p:spPr>
        <p:txBody>
          <a:bodyPr wrap="none">
            <a:spAutoFit/>
          </a:bodyPr>
          <a:lstStyle/>
          <a:p>
            <a:pPr algn="l"/>
            <a:r>
              <a:rPr sz="2300" b="1">
                <a:solidFill>
                  <a:srgbClr val="141414"/>
                </a:solidFill>
                <a:latin typeface="Arial"/>
              </a:rPr>
              <a:t>Pest &amp; Disease Management Result</a:t>
            </a:r>
          </a:p>
        </p:txBody>
      </p:sp>
      <p:sp>
        <p:nvSpPr>
          <p:cNvPr id="5" name="TextBox 4"/>
          <p:cNvSpPr txBox="1"/>
          <p:nvPr/>
        </p:nvSpPr>
        <p:spPr>
          <a:xfrm>
            <a:off x="685800" y="6291072"/>
            <a:ext cx="10835640" cy="384048"/>
          </a:xfrm>
          <a:prstGeom prst="rect">
            <a:avLst/>
          </a:prstGeom>
          <a:noFill/>
        </p:spPr>
        <p:txBody>
          <a:bodyPr wrap="square">
            <a:spAutoFit/>
          </a:bodyPr>
          <a:lstStyle/>
          <a:p>
            <a:pPr algn="ctr"/>
            <a:r>
              <a:rPr sz="1250">
                <a:solidFill>
                  <a:srgbClr val="4B4B4B"/>
                </a:solidFill>
                <a:latin typeface="Arial"/>
              </a:rPr>
              <a:t>The system returns identification, prevention, and management guidance for the reported pest or crop-disease problem.</a:t>
            </a:r>
          </a:p>
        </p:txBody>
      </p:sp>
    </p:spTree>
    <p:extLst>
      <p:ext uri="{BB962C8B-B14F-4D97-AF65-F5344CB8AC3E}">
        <p14:creationId xmlns:p14="http://schemas.microsoft.com/office/powerpoint/2010/main" val="3663680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a:blip r:embed="rId3">
            <a:alphaModFix/>
          </a:blip>
          <a:srcRect/>
          <a:stretch/>
        </p:blipFill>
        <p:spPr>
          <a:xfrm>
            <a:off x="8371985" y="1167493"/>
            <a:ext cx="3015342"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5509200"/>
          </a:xfrm>
          <a:prstGeom prst="rect">
            <a:avLst/>
          </a:prstGeom>
          <a:noFill/>
        </p:spPr>
        <p:txBody>
          <a:bodyPr wrap="square" rtlCol="0">
            <a:spAutoFit/>
          </a:bodyPr>
          <a:lstStyle/>
          <a:p>
            <a:r>
              <a:rPr lang="en-IN" sz="1600" b="1" dirty="0"/>
              <a:t>Role of Agentic AI in Smart Farming Agent</a:t>
            </a:r>
          </a:p>
          <a:p>
            <a:r>
              <a:rPr lang="en-IN" sz="1600" b="1" dirty="0"/>
              <a:t>Agentic AI</a:t>
            </a:r>
            <a:r>
              <a:rPr lang="en-IN" sz="1600" dirty="0"/>
              <a:t> enables the Smart Farming Agent to work as an intelligent, task-oriented system rather than a simple chatbot. Using </a:t>
            </a:r>
            <a:r>
              <a:rPr lang="en-IN" sz="1600" b="1" dirty="0"/>
              <a:t>IBM watsonx.ai and IBM Granite</a:t>
            </a:r>
            <a:r>
              <a:rPr lang="en-IN" sz="1600" dirty="0"/>
              <a:t>, it can coordinate different tasks to provide relevant and personalized farming guidance.</a:t>
            </a:r>
          </a:p>
          <a:p>
            <a:r>
              <a:rPr lang="en-IN" sz="1600" dirty="0"/>
              <a:t>The system uses specialized functions for </a:t>
            </a:r>
            <a:r>
              <a:rPr lang="en-IN" sz="1600" b="1" dirty="0"/>
              <a:t>understanding farmer queries, retrieving agricultural information, generating recommendations, and presenting useful responses</a:t>
            </a:r>
            <a:r>
              <a:rPr lang="en-IN" sz="1600" dirty="0"/>
              <a:t>. This modular approach helps the system handle farming-related tasks efficiently and provide more accurate, context-aware guidance.</a:t>
            </a:r>
          </a:p>
          <a:p>
            <a:r>
              <a:rPr lang="en-IN" sz="1600" dirty="0"/>
              <a:t>Agentic AI provides </a:t>
            </a:r>
            <a:r>
              <a:rPr lang="en-IN" sz="1600" b="1" dirty="0"/>
              <a:t>context awareness</a:t>
            </a:r>
            <a:r>
              <a:rPr lang="en-IN" sz="1600" dirty="0"/>
              <a:t> by considering inputs such as crop, location, soil conditions, season, weather, and the farmer’s question. It uses the retrieved information from the </a:t>
            </a:r>
            <a:r>
              <a:rPr lang="en-IN" sz="1600" b="1" dirty="0"/>
              <a:t>RAG pipeline</a:t>
            </a:r>
            <a:r>
              <a:rPr lang="en-IN" sz="1600" dirty="0"/>
              <a:t> to generate suitable recommendations through IBM Granite.</a:t>
            </a:r>
          </a:p>
          <a:p>
            <a:r>
              <a:rPr lang="en-IN" sz="1600" dirty="0"/>
              <a:t>The system also supports </a:t>
            </a:r>
            <a:r>
              <a:rPr lang="en-IN" sz="1600" b="1" dirty="0"/>
              <a:t>adaptive interaction</a:t>
            </a:r>
            <a:r>
              <a:rPr lang="en-IN" sz="1600" dirty="0"/>
              <a:t>, allowing farmers to ask follow-up questions and receive updated guidance based on their inputs. Different components work together to improve decision-making and provide practical agricultural advice.</a:t>
            </a:r>
          </a:p>
          <a:p>
            <a:r>
              <a:rPr lang="en-IN" sz="1600" dirty="0"/>
              <a:t>Overall, Agentic AI makes the solution a </a:t>
            </a:r>
            <a:r>
              <a:rPr lang="en-IN" sz="1600" b="1" dirty="0"/>
              <a:t>smart, proactive, and farmer-focused digital assistant</a:t>
            </a:r>
            <a:r>
              <a:rPr lang="en-IN" sz="1600" dirty="0"/>
              <a:t> that helps users with crop recommendations, pest and disease management, weather-related guidance, market information, and other farming decisions.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927872" y="10327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dirty="0"/>
              <a:t>95,041</a:t>
            </a:r>
            <a:r>
              <a:rPr lang="en-US" dirty="0"/>
              <a:t> token are used</a:t>
            </a:r>
          </a:p>
        </p:txBody>
      </p:sp>
      <p:pic>
        <p:nvPicPr>
          <p:cNvPr id="12" name="Picture 11">
            <a:extLst>
              <a:ext uri="{FF2B5EF4-FFF2-40B4-BE49-F238E27FC236}">
                <a16:creationId xmlns:a16="http://schemas.microsoft.com/office/drawing/2014/main" id="{3E29AF1D-88C4-87E5-74DF-4E97121E06CE}"/>
              </a:ext>
            </a:extLst>
          </p:cNvPr>
          <p:cNvPicPr>
            <a:picLocks noChangeAspect="1"/>
          </p:cNvPicPr>
          <p:nvPr/>
        </p:nvPicPr>
        <p:blipFill>
          <a:blip r:embed="rId3"/>
          <a:srcRect/>
          <a:stretch/>
        </p:blipFill>
        <p:spPr>
          <a:xfrm>
            <a:off x="124400" y="2357949"/>
            <a:ext cx="5588142" cy="2801958"/>
          </a:xfrm>
          <a:prstGeom prst="rect">
            <a:avLst/>
          </a:prstGeom>
        </p:spPr>
      </p:pic>
      <p:pic>
        <p:nvPicPr>
          <p:cNvPr id="13" name="Picture 12">
            <a:extLst>
              <a:ext uri="{FF2B5EF4-FFF2-40B4-BE49-F238E27FC236}">
                <a16:creationId xmlns:a16="http://schemas.microsoft.com/office/drawing/2014/main" id="{C81444F5-0692-DD67-1759-70821E53B029}"/>
              </a:ext>
            </a:extLst>
          </p:cNvPr>
          <p:cNvPicPr>
            <a:picLocks noChangeAspect="1"/>
          </p:cNvPicPr>
          <p:nvPr/>
        </p:nvPicPr>
        <p:blipFill>
          <a:blip r:embed="rId4"/>
          <a:srcRect/>
          <a:stretch/>
        </p:blipFill>
        <p:spPr>
          <a:xfrm>
            <a:off x="6171805" y="2451181"/>
            <a:ext cx="5700117"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355312"/>
          </a:xfrm>
          <a:prstGeom prst="rect">
            <a:avLst/>
          </a:prstGeom>
          <a:noFill/>
        </p:spPr>
        <p:txBody>
          <a:bodyPr wrap="square" rtlCol="0">
            <a:spAutoFit/>
          </a:bodyPr>
          <a:lstStyle/>
          <a:p>
            <a:r>
              <a:rPr lang="en-IN" sz="1800" dirty="0"/>
              <a:t>The proposed </a:t>
            </a:r>
            <a:r>
              <a:rPr lang="en-IN" sz="1800" b="1" dirty="0"/>
              <a:t>Smart Farming Agent</a:t>
            </a:r>
            <a:r>
              <a:rPr lang="en-IN" sz="1800" dirty="0"/>
              <a:t> stands out by combining </a:t>
            </a:r>
            <a:r>
              <a:rPr lang="en-IN" sz="1800" b="1" dirty="0"/>
              <a:t>Agentic AI, RAG, and personalization</a:t>
            </a:r>
            <a:r>
              <a:rPr lang="en-IN" sz="1800" dirty="0"/>
              <a:t> into a single intelligent farming system.</a:t>
            </a:r>
          </a:p>
          <a:p>
            <a:endParaRPr lang="en-IN" sz="1800" b="1" dirty="0"/>
          </a:p>
          <a:p>
            <a:r>
              <a:rPr lang="en-IN" sz="1800" b="1" dirty="0"/>
              <a:t>1. Multi-Agent Intelligence</a:t>
            </a:r>
            <a:r>
              <a:rPr lang="en-IN" sz="1800" dirty="0"/>
              <a:t> – Different specialized components work together to understand farmer queries, retrieve agricultural information, and generate suitable farming recommendations.</a:t>
            </a:r>
          </a:p>
          <a:p>
            <a:r>
              <a:rPr lang="en-IN" sz="1800" b="1" dirty="0"/>
              <a:t>2. RAG-Based Accuracy</a:t>
            </a:r>
            <a:r>
              <a:rPr lang="en-IN" sz="1800" dirty="0"/>
              <a:t> – The system retrieves relevant information from the agricultural knowledge base before generating an answer, helping provide more relevant and reliable guidance.</a:t>
            </a:r>
          </a:p>
          <a:p>
            <a:r>
              <a:rPr lang="en-IN" sz="1800" b="1" dirty="0"/>
              <a:t>3. Personalized Farming Advice</a:t>
            </a:r>
            <a:r>
              <a:rPr lang="en-IN" sz="1800" dirty="0"/>
              <a:t> – Recommendations can be tailored according to </a:t>
            </a:r>
            <a:r>
              <a:rPr lang="en-IN" sz="1800" b="1" dirty="0"/>
              <a:t>crop type, location, season, soil conditions, weather, and farmer requirements</a:t>
            </a:r>
            <a:r>
              <a:rPr lang="en-IN" sz="1800" dirty="0"/>
              <a:t>.</a:t>
            </a:r>
          </a:p>
          <a:p>
            <a:r>
              <a:rPr lang="en-IN" sz="1800" b="1" dirty="0"/>
              <a:t>4. Real-Time Decision Support</a:t>
            </a:r>
            <a:r>
              <a:rPr lang="en-IN" sz="1800" dirty="0"/>
              <a:t> – Weather and market information can be used along with agricultural knowledge to support timely farming decisions.</a:t>
            </a:r>
          </a:p>
          <a:p>
            <a:r>
              <a:rPr lang="en-IN" sz="1800" b="1" dirty="0"/>
              <a:t>5. Multilingual Support</a:t>
            </a:r>
            <a:r>
              <a:rPr lang="en-IN" sz="1800" dirty="0"/>
              <a:t> – Farmers can interact with the system in </a:t>
            </a:r>
            <a:r>
              <a:rPr lang="en-IN" sz="1800" b="1" dirty="0"/>
              <a:t>English, Hindi, and Telugu</a:t>
            </a:r>
            <a:r>
              <a:rPr lang="en-IN" sz="1800" dirty="0"/>
              <a:t>, improving accessibility for local users.</a:t>
            </a:r>
          </a:p>
          <a:p>
            <a:r>
              <a:rPr lang="en-IN" sz="1800" b="1" dirty="0"/>
              <a:t>6. Complete Farming Assistance</a:t>
            </a:r>
            <a:r>
              <a:rPr lang="en-IN" sz="1800" dirty="0"/>
              <a:t> – The solution covers multiple needs in one platform, including </a:t>
            </a:r>
            <a:r>
              <a:rPr lang="en-IN" sz="1800" b="1" dirty="0"/>
              <a:t>crop recommendations, pest and disease management, weather guidance, and market information</a:t>
            </a:r>
            <a:r>
              <a:rPr lang="en-IN" sz="1800" dirty="0"/>
              <a:t>.</a:t>
            </a:r>
          </a:p>
          <a:p>
            <a:r>
              <a:rPr lang="en-IN" sz="1800" b="1" dirty="0"/>
              <a:t>7. IBM Granite Integration</a:t>
            </a:r>
            <a:r>
              <a:rPr lang="en-IN" sz="1800" dirty="0"/>
              <a:t> – The system uses </a:t>
            </a:r>
            <a:r>
              <a:rPr lang="en-IN" sz="1800" b="1" dirty="0"/>
              <a:t>IBM watsonx.ai and IBM Granite</a:t>
            </a:r>
            <a:r>
              <a:rPr lang="en-IN" sz="1800" dirty="0"/>
              <a:t> for AI-powered response generation, providing an IBM-based foundation for the solution.</a:t>
            </a:r>
          </a:p>
          <a:p>
            <a:r>
              <a:rPr lang="en-IN" sz="1800" dirty="0"/>
              <a:t>Overall, the solution is a </a:t>
            </a:r>
            <a:r>
              <a:rPr lang="en-IN" sz="1800" b="1" dirty="0"/>
              <a:t>smart, context-aware, and farmer-focused digital agricultural assistant</a:t>
            </a:r>
            <a:r>
              <a:rPr lang="en-IN" sz="1800" dirty="0"/>
              <a:t>, rather than a simple question-and-answer chatbot.</a:t>
            </a:r>
          </a:p>
        </p:txBody>
      </p:sp>
    </p:spTree>
    <p:extLst>
      <p:ext uri="{BB962C8B-B14F-4D97-AF65-F5344CB8AC3E}">
        <p14:creationId xmlns:p14="http://schemas.microsoft.com/office/powerpoint/2010/main" val="9179641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10069036"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IN" sz="1600" dirty="0">
                <a:solidFill>
                  <a:srgbClr val="141414"/>
                </a:solidFill>
              </a:rPr>
              <a:t>Public GitHub Repository</a:t>
            </a:r>
          </a:p>
          <a:p>
            <a:pPr>
              <a:lnSpc>
                <a:spcPct val="162162"/>
              </a:lnSpc>
              <a:buClr>
                <a:srgbClr val="2B3541"/>
              </a:buClr>
              <a:buSzPts val="1850"/>
            </a:pPr>
            <a:r>
              <a:rPr lang="en-IN" sz="1600" dirty="0">
                <a:solidFill>
                  <a:srgbClr val="141414"/>
                </a:solidFill>
                <a:hlinkClick r:id="rId3"/>
              </a:rPr>
              <a:t>https://github.com/PKhadarkhan/AI-Agent-for-Smart-Farming-Advice.git</a:t>
            </a:r>
            <a:endParaRPr lang="en-IN" sz="1600" dirty="0">
              <a:solidFill>
                <a:srgbClr val="141414"/>
              </a:solidFill>
            </a:endParaRPr>
          </a:p>
          <a:p>
            <a:pPr>
              <a:lnSpc>
                <a:spcPct val="162162"/>
              </a:lnSpc>
              <a:buClr>
                <a:srgbClr val="2B3541"/>
              </a:buClr>
              <a:buSzPts val="1850"/>
            </a:pPr>
            <a:r>
              <a:rPr lang="en-IN" sz="1600" dirty="0">
                <a:solidFill>
                  <a:srgbClr val="141414"/>
                </a:solidFill>
              </a:rPr>
              <a:t>Repository contents should include:</a:t>
            </a:r>
          </a:p>
          <a:p>
            <a:pPr>
              <a:lnSpc>
                <a:spcPct val="162162"/>
              </a:lnSpc>
              <a:buClr>
                <a:srgbClr val="2B3541"/>
              </a:buClr>
              <a:buSzPts val="1850"/>
            </a:pPr>
            <a:r>
              <a:rPr lang="en-IN" sz="1600" dirty="0">
                <a:solidFill>
                  <a:srgbClr val="141414"/>
                </a:solidFill>
              </a:rPr>
              <a:t>• Application source code</a:t>
            </a:r>
          </a:p>
          <a:p>
            <a:pPr>
              <a:lnSpc>
                <a:spcPct val="162162"/>
              </a:lnSpc>
              <a:buClr>
                <a:srgbClr val="2B3541"/>
              </a:buClr>
              <a:buSzPts val="1850"/>
            </a:pPr>
            <a:r>
              <a:rPr lang="en-IN" sz="1600" dirty="0">
                <a:solidFill>
                  <a:srgbClr val="141414"/>
                </a:solidFill>
              </a:rPr>
              <a:t>• README.md</a:t>
            </a:r>
          </a:p>
          <a:p>
            <a:pPr>
              <a:lnSpc>
                <a:spcPct val="162162"/>
              </a:lnSpc>
              <a:buClr>
                <a:srgbClr val="2B3541"/>
              </a:buClr>
              <a:buSzPts val="1850"/>
            </a:pPr>
            <a:r>
              <a:rPr lang="en-IN" sz="1600" dirty="0">
                <a:solidFill>
                  <a:srgbClr val="141414"/>
                </a:solidFill>
              </a:rPr>
              <a:t>• Project presentation</a:t>
            </a:r>
          </a:p>
          <a:p>
            <a:pPr>
              <a:lnSpc>
                <a:spcPct val="162162"/>
              </a:lnSpc>
              <a:buClr>
                <a:srgbClr val="2B3541"/>
              </a:buClr>
              <a:buSzPts val="1850"/>
            </a:pPr>
            <a:r>
              <a:rPr lang="en-IN" sz="1600" dirty="0">
                <a:solidFill>
                  <a:srgbClr val="141414"/>
                </a:solidFill>
              </a:rPr>
              <a:t>• Problem statement PDF</a:t>
            </a:r>
          </a:p>
          <a:p>
            <a:pPr>
              <a:lnSpc>
                <a:spcPct val="162162"/>
              </a:lnSpc>
              <a:buClr>
                <a:srgbClr val="2B3541"/>
              </a:buClr>
              <a:buSzPts val="1850"/>
            </a:pPr>
            <a:r>
              <a:rPr lang="en-IN" sz="1600" dirty="0">
                <a:solidFill>
                  <a:srgbClr val="141414"/>
                </a:solidFill>
              </a:rPr>
              <a:t>• </a:t>
            </a:r>
            <a:r>
              <a:rPr lang="en-IN" sz="1600" dirty="0" err="1">
                <a:solidFill>
                  <a:srgbClr val="141414"/>
                </a:solidFill>
              </a:rPr>
              <a:t>app.json</a:t>
            </a:r>
            <a:r>
              <a:rPr lang="en-IN" sz="1600" dirty="0">
                <a:solidFill>
                  <a:srgbClr val="141414"/>
                </a:solidFill>
              </a:rPr>
              <a:t> / deployment configuration, if used</a:t>
            </a:r>
          </a:p>
          <a:p>
            <a:pPr>
              <a:lnSpc>
                <a:spcPct val="162162"/>
              </a:lnSpc>
              <a:buClr>
                <a:srgbClr val="2B3541"/>
              </a:buClr>
              <a:buSzPts val="1850"/>
            </a:pPr>
            <a:r>
              <a:rPr lang="en-IN" sz="1600" dirty="0">
                <a:solidFill>
                  <a:srgbClr val="141414"/>
                </a:solidFill>
              </a:rPr>
              <a:t>• Other required project files</a:t>
            </a:r>
          </a:p>
          <a:p>
            <a:pPr>
              <a:lnSpc>
                <a:spcPct val="162162"/>
              </a:lnSpc>
              <a:buClr>
                <a:srgbClr val="2B3541"/>
              </a:buClr>
              <a:buSzPts val="1850"/>
            </a:pPr>
            <a:r>
              <a:rPr lang="en-IN" sz="1600" dirty="0">
                <a:solidFill>
                  <a:srgbClr val="141414"/>
                </a:solidFill>
              </a:rPr>
              <a:t>Repository owner: PATAN KHADAR KHAN</a:t>
            </a:r>
          </a:p>
          <a:p>
            <a:pPr>
              <a:lnSpc>
                <a:spcPct val="162162"/>
              </a:lnSpc>
              <a:buClr>
                <a:srgbClr val="2B3541"/>
              </a:buClr>
              <a:buSzPts val="1850"/>
            </a:pPr>
            <a:r>
              <a:rPr lang="en-IN" sz="1600" dirty="0" err="1">
                <a:solidFill>
                  <a:srgbClr val="141414"/>
                </a:solidFill>
              </a:rPr>
              <a:t>Acite</a:t>
            </a:r>
            <a:r>
              <a:rPr lang="en-IN" sz="1600" dirty="0">
                <a:solidFill>
                  <a:srgbClr val="141414"/>
                </a:solidFill>
              </a:rPr>
              <a:t> email: </a:t>
            </a:r>
            <a:r>
              <a:rPr lang="en-IN" sz="1600" dirty="0">
                <a:solidFill>
                  <a:srgbClr val="141414"/>
                </a:solidFill>
                <a:hlinkClick r:id="rId4"/>
              </a:rPr>
              <a:t>pkhadarkhan3@gmail.com</a:t>
            </a:r>
            <a:endParaRPr lang="en-IN" sz="1600" dirty="0">
              <a:solidFill>
                <a:srgbClr val="141414"/>
              </a:solidFill>
            </a:endParaRPr>
          </a:p>
          <a:p>
            <a:pPr>
              <a:buClr>
                <a:srgbClr val="2B3541"/>
              </a:buClr>
              <a:buSzPts val="1850"/>
            </a:pPr>
            <a:r>
              <a:rPr lang="en-IN" sz="1600" dirty="0" err="1">
                <a:solidFill>
                  <a:srgbClr val="141414"/>
                </a:solidFill>
              </a:rPr>
              <a:t>Acite</a:t>
            </a:r>
            <a:r>
              <a:rPr lang="en-IN" sz="1600" dirty="0">
                <a:solidFill>
                  <a:srgbClr val="141414"/>
                </a:solidFill>
              </a:rPr>
              <a:t> student: </a:t>
            </a:r>
            <a:r>
              <a:rPr lang="en-IN" b="1" dirty="0"/>
              <a:t>STU68fa3fb46a7001761230772</a:t>
            </a:r>
            <a:endParaRPr lang="en-IN" sz="1600" dirty="0">
              <a:solidFill>
                <a:srgbClr val="141414"/>
              </a:solidFill>
            </a:endParaRPr>
          </a:p>
          <a:p>
            <a:pPr>
              <a:lnSpc>
                <a:spcPct val="162162"/>
              </a:lnSpc>
              <a:buClr>
                <a:srgbClr val="2B3541"/>
              </a:buClr>
              <a:buSzPts val="1850"/>
            </a:pPr>
            <a:endParaRPr lang="en-IN" sz="1600" dirty="0">
              <a:solidFill>
                <a:srgbClr val="141414"/>
              </a:solidFill>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IN" sz="2000" b="1" dirty="0"/>
              <a:t>1. Integration with IoT &amp; Smart Farming Devices</a:t>
            </a:r>
            <a:r>
              <a:rPr lang="en-IN" sz="2000" dirty="0"/>
              <a:t> –</a:t>
            </a:r>
            <a:br>
              <a:rPr lang="en-IN" sz="2000" dirty="0"/>
            </a:br>
            <a:r>
              <a:rPr lang="en-IN" sz="2000" dirty="0"/>
              <a:t>The system can be integrated with </a:t>
            </a:r>
            <a:r>
              <a:rPr lang="en-IN" sz="2000" b="1" dirty="0"/>
              <a:t>soil-moisture sensors, weather stations, drones, and other IoT devices</a:t>
            </a:r>
            <a:r>
              <a:rPr lang="en-IN" sz="2000" dirty="0"/>
              <a:t> to collect real-time farm data. This can help provide more accurate recommendations based on soil moisture, temperature, humidity, and crop conditions.</a:t>
            </a:r>
          </a:p>
          <a:p>
            <a:endParaRPr lang="en-IN" sz="2000" b="1" dirty="0"/>
          </a:p>
          <a:p>
            <a:r>
              <a:rPr lang="en-IN" sz="2000" b="1" dirty="0"/>
              <a:t>2. AI-Powered Voice Assistant &amp; Multilingual Support</a:t>
            </a:r>
            <a:r>
              <a:rPr lang="en-IN" sz="2000" dirty="0"/>
              <a:t> –</a:t>
            </a:r>
            <a:br>
              <a:rPr lang="en-IN" sz="2000" dirty="0"/>
            </a:br>
            <a:r>
              <a:rPr lang="en-IN" sz="2000" dirty="0"/>
              <a:t>Adding a </a:t>
            </a:r>
            <a:r>
              <a:rPr lang="en-IN" sz="2000" b="1" dirty="0"/>
              <a:t>voice-enabled assistant</a:t>
            </a:r>
            <a:r>
              <a:rPr lang="en-IN" sz="2000" dirty="0"/>
              <a:t> and expanding support for more regional languages can make the system easier to use for farmers. Farmers will be able to ask questions naturally and receive farming guidance in their preferred language.</a:t>
            </a:r>
          </a:p>
          <a:p>
            <a:endParaRPr lang="en-IN" sz="2000" b="1" dirty="0"/>
          </a:p>
          <a:p>
            <a:r>
              <a:rPr lang="en-IN" sz="2000" b="1" dirty="0"/>
              <a:t>3. Image-Based Crop &amp; Pest Detection</a:t>
            </a:r>
            <a:r>
              <a:rPr lang="en-IN" sz="2000" dirty="0"/>
              <a:t> –</a:t>
            </a:r>
            <a:br>
              <a:rPr lang="en-IN" sz="2000" dirty="0"/>
            </a:br>
            <a:r>
              <a:rPr lang="en-IN" sz="2000" dirty="0"/>
              <a:t>Future versions can allow farmers to </a:t>
            </a:r>
            <a:r>
              <a:rPr lang="en-IN" sz="2000" b="1" dirty="0"/>
              <a:t>upload crop or leaf images</a:t>
            </a:r>
            <a:r>
              <a:rPr lang="en-IN" sz="2000" dirty="0"/>
              <a:t> so the system can identify possible diseases, pests, or crop problems and provide suitable management suggestions.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8" y="207380"/>
            <a:ext cx="733269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 </a:t>
            </a:r>
            <a:r>
              <a:rPr lang="en-US" sz="2400" b="1" dirty="0" err="1"/>
              <a:t>Credly</a:t>
            </a:r>
            <a:r>
              <a:rPr lang="en-US" sz="2400" b="1" dirty="0"/>
              <a:t> / IBM </a:t>
            </a:r>
            <a:r>
              <a:rPr lang="en-US" sz="2400" b="1" dirty="0" err="1"/>
              <a:t>SkillsBuild</a:t>
            </a:r>
            <a:endParaRPr lang="en-US" sz="2400" b="1" dirty="0"/>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800" b="1" dirty="0"/>
              <a:t>IBM </a:t>
            </a:r>
            <a:r>
              <a:rPr lang="en-IN" sz="2800" b="1" dirty="0" err="1"/>
              <a:t>SkillsBuild</a:t>
            </a:r>
            <a:r>
              <a:rPr lang="en-IN" sz="2800" b="1" dirty="0"/>
              <a:t> certificates</a:t>
            </a:r>
          </a:p>
        </p:txBody>
      </p:sp>
      <p:pic>
        <p:nvPicPr>
          <p:cNvPr id="4" name="Picture 3">
            <a:extLst>
              <a:ext uri="{FF2B5EF4-FFF2-40B4-BE49-F238E27FC236}">
                <a16:creationId xmlns:a16="http://schemas.microsoft.com/office/drawing/2014/main" id="{A037CFD0-B7FF-D9BE-3433-88E5844EF332}"/>
              </a:ext>
            </a:extLst>
          </p:cNvPr>
          <p:cNvPicPr>
            <a:picLocks noChangeAspect="1"/>
          </p:cNvPicPr>
          <p:nvPr/>
        </p:nvPicPr>
        <p:blipFill>
          <a:blip r:embed="rId2"/>
          <a:srcRect/>
          <a:stretch/>
        </p:blipFill>
        <p:spPr>
          <a:xfrm>
            <a:off x="2655649" y="1343396"/>
            <a:ext cx="6870805" cy="5309259"/>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814B21-B0F1-764F-5F44-461F89611BF5}"/>
              </a:ext>
            </a:extLst>
          </p:cNvPr>
          <p:cNvSpPr txBox="1"/>
          <p:nvPr/>
        </p:nvSpPr>
        <p:spPr>
          <a:xfrm>
            <a:off x="487680" y="464830"/>
            <a:ext cx="6096000" cy="523220"/>
          </a:xfrm>
          <a:prstGeom prst="rect">
            <a:avLst/>
          </a:prstGeom>
          <a:noFill/>
        </p:spPr>
        <p:txBody>
          <a:bodyPr wrap="square">
            <a:spAutoFit/>
          </a:bodyPr>
          <a:lstStyle/>
          <a:p>
            <a:r>
              <a:rPr lang="en-IN" sz="2800" b="1" dirty="0"/>
              <a:t>IBM </a:t>
            </a:r>
            <a:r>
              <a:rPr lang="en-IN" sz="2800" b="1" dirty="0" err="1"/>
              <a:t>SkillsBuild</a:t>
            </a:r>
            <a:r>
              <a:rPr lang="en-IN" sz="2800" b="1" dirty="0"/>
              <a:t> certificates</a:t>
            </a:r>
          </a:p>
        </p:txBody>
      </p:sp>
      <p:pic>
        <p:nvPicPr>
          <p:cNvPr id="7" name="Picture 6">
            <a:extLst>
              <a:ext uri="{FF2B5EF4-FFF2-40B4-BE49-F238E27FC236}">
                <a16:creationId xmlns:a16="http://schemas.microsoft.com/office/drawing/2014/main" id="{CA00AD48-547B-52CB-9014-679B0DD4C60F}"/>
              </a:ext>
            </a:extLst>
          </p:cNvPr>
          <p:cNvPicPr>
            <a:picLocks noChangeAspect="1"/>
          </p:cNvPicPr>
          <p:nvPr/>
        </p:nvPicPr>
        <p:blipFill>
          <a:blip r:embed="rId2"/>
          <a:srcRect/>
          <a:stretch/>
        </p:blipFill>
        <p:spPr>
          <a:xfrm>
            <a:off x="2655649" y="1343396"/>
            <a:ext cx="6870805" cy="5309258"/>
          </a:xfrm>
          <a:prstGeom prst="rect">
            <a:avLst/>
          </a:prstGeom>
        </p:spPr>
      </p:pic>
    </p:spTree>
    <p:extLst>
      <p:ext uri="{BB962C8B-B14F-4D97-AF65-F5344CB8AC3E}">
        <p14:creationId xmlns:p14="http://schemas.microsoft.com/office/powerpoint/2010/main" val="2872191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469844-40D1-2986-0FF1-0AAEC90021F9}"/>
              </a:ext>
            </a:extLst>
          </p:cNvPr>
          <p:cNvSpPr txBox="1"/>
          <p:nvPr/>
        </p:nvSpPr>
        <p:spPr>
          <a:xfrm>
            <a:off x="508000" y="688350"/>
            <a:ext cx="6096000" cy="523220"/>
          </a:xfrm>
          <a:prstGeom prst="rect">
            <a:avLst/>
          </a:prstGeom>
          <a:noFill/>
        </p:spPr>
        <p:txBody>
          <a:bodyPr wrap="square">
            <a:spAutoFit/>
          </a:bodyPr>
          <a:lstStyle/>
          <a:p>
            <a:r>
              <a:rPr lang="en-IN" sz="2800" b="1" dirty="0"/>
              <a:t>IBM </a:t>
            </a:r>
            <a:r>
              <a:rPr lang="en-IN" sz="2800" b="1" dirty="0" err="1"/>
              <a:t>SkillsBuild</a:t>
            </a:r>
            <a:r>
              <a:rPr lang="en-IN" sz="2800" b="1" dirty="0"/>
              <a:t> certificates</a:t>
            </a:r>
          </a:p>
        </p:txBody>
      </p:sp>
      <p:pic>
        <p:nvPicPr>
          <p:cNvPr id="5" name="Picture 4">
            <a:extLst>
              <a:ext uri="{FF2B5EF4-FFF2-40B4-BE49-F238E27FC236}">
                <a16:creationId xmlns:a16="http://schemas.microsoft.com/office/drawing/2014/main" id="{F60DAD35-06EA-3E2B-6D7B-BDF3CF4666DF}"/>
              </a:ext>
            </a:extLst>
          </p:cNvPr>
          <p:cNvPicPr>
            <a:picLocks noChangeAspect="1"/>
          </p:cNvPicPr>
          <p:nvPr/>
        </p:nvPicPr>
        <p:blipFill>
          <a:blip r:embed="rId2"/>
          <a:srcRect/>
          <a:stretch/>
        </p:blipFill>
        <p:spPr>
          <a:xfrm>
            <a:off x="2655649" y="1343396"/>
            <a:ext cx="6870804" cy="5309258"/>
          </a:xfrm>
          <a:prstGeom prst="rect">
            <a:avLst/>
          </a:prstGeom>
        </p:spPr>
      </p:pic>
    </p:spTree>
    <p:extLst>
      <p:ext uri="{BB962C8B-B14F-4D97-AF65-F5344CB8AC3E}">
        <p14:creationId xmlns:p14="http://schemas.microsoft.com/office/powerpoint/2010/main" val="5655943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99C3698-991D-7A38-C456-893C84C23FC9}"/>
              </a:ext>
            </a:extLst>
          </p:cNvPr>
          <p:cNvPicPr>
            <a:picLocks noChangeAspect="1"/>
          </p:cNvPicPr>
          <p:nvPr/>
        </p:nvPicPr>
        <p:blipFill>
          <a:blip r:embed="rId2"/>
          <a:srcRect t="4096" r="5771" b="17529"/>
          <a:stretch>
            <a:fillRect/>
          </a:stretch>
        </p:blipFill>
        <p:spPr>
          <a:xfrm>
            <a:off x="2512737" y="1712637"/>
            <a:ext cx="6763343" cy="3976963"/>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IN" sz="2400" b="1" dirty="0"/>
              <a:t>Certificates Earned: IBM BOB</a:t>
            </a:r>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6259557"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Lab: Troubleshoot Your Code Using IBM Bob</a:t>
            </a:r>
          </a:p>
        </p:txBody>
      </p:sp>
    </p:spTree>
    <p:extLst>
      <p:ext uri="{BB962C8B-B14F-4D97-AF65-F5344CB8AC3E}">
        <p14:creationId xmlns:p14="http://schemas.microsoft.com/office/powerpoint/2010/main" val="25066107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TotalTime>
  <Words>1689</Words>
  <Application>Microsoft Office PowerPoint</Application>
  <PresentationFormat>Widescreen</PresentationFormat>
  <Paragraphs>129</Paragraphs>
  <Slides>32</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khadar khan</cp:lastModifiedBy>
  <cp:revision>16</cp:revision>
  <dcterms:created xsi:type="dcterms:W3CDTF">2025-07-08T05:06:56Z</dcterms:created>
  <dcterms:modified xsi:type="dcterms:W3CDTF">2026-09-10T21:48:34Z</dcterms:modified>
</cp:coreProperties>
</file>